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548640" y="1828800"/>
            <a:ext cx="3931920" cy="2835910"/>
            <a:chOff x="864" y="2880"/>
            <a:chExt cx="6192" cy="4466"/>
          </a:xfrm>
        </p:grpSpPr>
        <p:sp>
          <p:nvSpPr>
            <p:cNvPr id="5" name="TextBox 4"/>
            <p:cNvSpPr txBox="1"/>
            <p:nvPr/>
          </p:nvSpPr>
          <p:spPr>
            <a:xfrm>
              <a:off x="864" y="2880"/>
              <a:ext cx="6192" cy="30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1000" b="0">
                  <a:solidFill>
                    <a:srgbClr val="FFFFFF"/>
                  </a:solidFill>
                  <a:latin typeface="Calibri"/>
                </a:rPr>
                <a:t>🌱</a:t>
              </a:r>
              <a:endParaRPr sz="11000" b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4" y="6048"/>
              <a:ext cx="6192" cy="8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3600" b="1">
                  <a:solidFill>
                    <a:srgbClr val="FFFFFF"/>
                  </a:solidFill>
                  <a:latin typeface="Calibri"/>
                </a:rPr>
                <a:t>SmartFarm</a:t>
              </a:r>
              <a:endParaRPr sz="3600" b="1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72" y="7056"/>
              <a:ext cx="4174" cy="29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altLang="en-US" sz="1200" b="0">
                  <a:solidFill>
                    <a:srgbClr val="FFFFFF"/>
                  </a:solidFill>
                  <a:uFillTx/>
                  <a:latin typeface="Khmer OS Siemreap" panose="02000500000000020004" charset="0"/>
                  <a:cs typeface="Khmer OS Siemreap" panose="02000500000000020004" charset="0"/>
                </a:rPr>
                <a:t>កសិកម្មឆ្លាតវៃ ងាយស្រួល</a:t>
              </a:r>
              <a:endParaRPr lang="en-US" altLang="en-US" sz="1200" b="0">
                <a:solidFill>
                  <a:srgbClr val="FFFFFF"/>
                </a:solidFill>
                <a:uFillTx/>
                <a:latin typeface="Khmer OS Siemreap" panose="02000500000000020004" charset="0"/>
                <a:cs typeface="Khmer OS Siemreap" panose="02000500000000020004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669280" y="2286000"/>
            <a:ext cx="5943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F1C"/>
                </a:solidFill>
                <a:latin typeface="Calibri"/>
              </a:rPr>
              <a:t>An offline farm-management app</a:t>
            </a:r>
            <a:endParaRPr sz="2600" b="1">
              <a:solidFill>
                <a:srgbClr val="1A1F1C"/>
              </a:solidFill>
              <a:latin typeface="Calibri"/>
            </a:endParaRPr>
          </a:p>
          <a:p>
            <a:pPr algn="l"/>
            <a:r>
              <a:rPr sz="2600" b="1">
                <a:solidFill>
                  <a:srgbClr val="1A1F1C"/>
                </a:solidFill>
                <a:latin typeface="Calibri"/>
              </a:rPr>
              <a:t>built for Cambodian small-scale farmers.</a:t>
            </a:r>
            <a:endParaRPr sz="2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0" y="402336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6E6A"/>
                </a:solidFill>
                <a:latin typeface="Calibri"/>
              </a:rPr>
              <a:t>Track money. Plan activities.</a:t>
            </a:r>
            <a:endParaRPr sz="14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6B6E6A"/>
                </a:solidFill>
                <a:latin typeface="Calibri"/>
              </a:rPr>
              <a:t>Identify pests. All in Khmer. All offline.</a:t>
            </a:r>
            <a:endParaRPr sz="14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0" y="60350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B0B4B1"/>
                </a:solidFill>
                <a:latin typeface="Calibri"/>
              </a:rPr>
              <a:t>Presented by the SmartFarm team</a:t>
            </a:r>
            <a:endParaRPr sz="1000" b="0">
              <a:solidFill>
                <a:srgbClr val="B0B4B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THE PROBLEM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F1C"/>
                </a:solidFill>
                <a:latin typeface="Calibri"/>
              </a:rPr>
              <a:t>Farming small plots is a daily juggle of memory and guesswork</a:t>
            </a:r>
            <a:endParaRPr sz="24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64592" cy="2194560"/>
          </a:xfrm>
          <a:prstGeom prst="rect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6030" y="1713865"/>
            <a:ext cx="521970" cy="41021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altLang="en-US" sz="2000" b="1">
                <a:solidFill>
                  <a:srgbClr val="2E6E43"/>
                </a:solidFill>
                <a:latin typeface="Calibri"/>
              </a:rPr>
              <a:t>💰</a:t>
            </a:r>
            <a:endParaRPr sz="20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F1C"/>
                </a:solidFill>
                <a:latin typeface="Calibri"/>
              </a:rPr>
              <a:t>Untracked money</a:t>
            </a:r>
            <a:endParaRPr sz="1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Income and expenses live in notebooks or memory.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By harvest time, no one knows real profit.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164592" cy="2194560"/>
          </a:xfrm>
          <a:prstGeom prst="rect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915" y="1677670"/>
            <a:ext cx="455295" cy="41275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altLang="en-US" sz="2000" b="1">
                <a:solidFill>
                  <a:srgbClr val="2E6E43"/>
                </a:solidFill>
                <a:latin typeface="Calibri"/>
              </a:rPr>
              <a:t>📅</a:t>
            </a:r>
            <a:endParaRPr sz="20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0" y="1783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F1C"/>
                </a:solidFill>
                <a:latin typeface="Calibri"/>
              </a:rPr>
              <a:t>Missed activities</a:t>
            </a:r>
            <a:endParaRPr sz="1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6640" y="233172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Planting, watering, spraying, harvesting — easy to lose the schedule.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A missed window costs a season.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164592" cy="2194560"/>
          </a:xfrm>
          <a:prstGeom prst="rect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4445" y="4173220"/>
            <a:ext cx="621665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altLang="en-US" sz="2000" b="1">
                <a:solidFill>
                  <a:srgbClr val="2E6E43"/>
                </a:solidFill>
                <a:latin typeface="Calibri"/>
              </a:rPr>
              <a:t>📖</a:t>
            </a:r>
            <a:endParaRPr sz="20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28800" y="41148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F1C"/>
                </a:solidFill>
                <a:latin typeface="Calibri"/>
              </a:rPr>
              <a:t>Unknown pests &amp; disease</a:t>
            </a:r>
            <a:endParaRPr sz="1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By the time damage is visible, the right treatment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is often guessed at or asked from neighbors.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52120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86200"/>
            <a:ext cx="164592" cy="2194560"/>
          </a:xfrm>
          <a:prstGeom prst="rect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1148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F1C"/>
                </a:solidFill>
                <a:latin typeface="Calibri"/>
              </a:rPr>
              <a:t>Patchy connectivity</a:t>
            </a:r>
            <a:endParaRPr sz="1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6640" y="466344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Rural areas have weak or no internet.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Cloud-only farming apps don't work where farmers actually farm.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2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pic>
        <p:nvPicPr>
          <p:cNvPr id="26" name="Picture 25"/>
          <p:cNvPicPr/>
          <p:nvPr/>
        </p:nvPicPr>
        <p:blipFill>
          <a:blip r:embed="rId1"/>
          <a:stretch>
            <a:fillRect/>
          </a:stretch>
        </p:blipFill>
        <p:spPr>
          <a:xfrm>
            <a:off x="6598285" y="3983355"/>
            <a:ext cx="412115" cy="412115"/>
          </a:xfrm>
          <a:prstGeom prst="rect">
            <a:avLst/>
          </a:prstGeom>
        </p:spPr>
      </p:pic>
      <p:sp>
        <p:nvSpPr>
          <p:cNvPr id="52" name="TextBox 19"/>
          <p:cNvSpPr txBox="1"/>
          <p:nvPr/>
        </p:nvSpPr>
        <p:spPr>
          <a:xfrm>
            <a:off x="58674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THE SOLUTION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One offline app, four tools farmers already need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974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697480" cy="914400"/>
          </a:xfrm>
          <a:prstGeom prst="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69748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2E6E43"/>
                </a:solidFill>
                <a:latin typeface="Calibri"/>
              </a:rPr>
              <a:t>💰</a:t>
            </a:r>
            <a:endParaRPr sz="2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A1F1C"/>
                </a:solidFill>
                <a:latin typeface="Calibri"/>
              </a:rPr>
              <a:t>Finance Tracker</a:t>
            </a:r>
            <a:endParaRPr sz="14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240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Income &amp; expense in KHR or USD.</a:t>
            </a:r>
            <a:endParaRPr sz="10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Live balance.</a:t>
            </a:r>
            <a:endParaRPr sz="10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Categories, filters, dual currency.</a:t>
            </a:r>
            <a:endParaRPr sz="10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6974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54480"/>
            <a:ext cx="2697480" cy="914400"/>
          </a:xfrm>
          <a:prstGeom prst="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37360"/>
            <a:ext cx="269748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2E6E43"/>
                </a:solidFill>
                <a:latin typeface="Calibri"/>
                <a:sym typeface="+mn-ea"/>
              </a:rPr>
              <a:t>📅</a:t>
            </a:r>
            <a:endParaRPr sz="2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0" y="26060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A1F1C"/>
                </a:solidFill>
                <a:latin typeface="Calibri"/>
              </a:rPr>
              <a:t>Calendar &amp; Activities</a:t>
            </a:r>
            <a:endParaRPr sz="14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3320" y="3063240"/>
            <a:ext cx="2240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Month grid with activity dots.</a:t>
            </a:r>
            <a:endParaRPr sz="10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Plant / Tend / Protect / Harvest types.</a:t>
            </a:r>
            <a:endParaRPr sz="10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Mark done, never forget.</a:t>
            </a:r>
            <a:endParaRPr sz="10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26974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2697480" cy="914400"/>
          </a:xfrm>
          <a:prstGeom prst="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269748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2E6E43"/>
                </a:solidFill>
                <a:latin typeface="Calibri"/>
                <a:sym typeface="+mn-ea"/>
              </a:rPr>
              <a:t>📖</a:t>
            </a:r>
            <a:endParaRPr sz="2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26060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A1F1C"/>
                </a:solidFill>
                <a:latin typeface="Calibri"/>
              </a:rPr>
              <a:t>Pest &amp; Disease Guide</a:t>
            </a:r>
            <a:endParaRPr sz="14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2240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Bundled offline library.</a:t>
            </a:r>
            <a:endParaRPr sz="10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Search + category filters.</a:t>
            </a:r>
            <a:endParaRPr sz="10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Symptoms, treatment, prevention.</a:t>
            </a:r>
            <a:endParaRPr sz="10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0" y="1554480"/>
            <a:ext cx="26974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54480"/>
            <a:ext cx="2697480" cy="914400"/>
          </a:xfrm>
          <a:prstGeom prst="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737360"/>
            <a:ext cx="269748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en-US" sz="2800" b="1">
                <a:solidFill>
                  <a:srgbClr val="2E6E43"/>
                </a:solidFill>
                <a:latin typeface="Calibri"/>
              </a:rPr>
              <a:t>⚙️</a:t>
            </a:r>
            <a:endParaRPr lang="en-US" altLang="en-US" sz="2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0" y="26060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A1F1C"/>
                </a:solidFill>
                <a:latin typeface="Calibri"/>
              </a:rPr>
              <a:t>Settings &amp; Backup</a:t>
            </a:r>
            <a:endParaRPr sz="14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72600" y="3063240"/>
            <a:ext cx="2240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Light / dark theme.</a:t>
            </a:r>
            <a:endParaRPr sz="10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CSV export, JSON backup &amp; restore.</a:t>
            </a:r>
            <a:endParaRPr sz="10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6B6E6A"/>
                </a:solidFill>
                <a:latin typeface="Calibri"/>
              </a:rPr>
              <a:t>One tap to clear &amp; start fresh.</a:t>
            </a:r>
            <a:endParaRPr sz="10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5486400"/>
            <a:ext cx="10881360" cy="640080"/>
          </a:xfrm>
          <a:prstGeom prst="round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6509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F4D2E"/>
                </a:solidFill>
                <a:latin typeface="Calibri"/>
              </a:rPr>
              <a:t>100% offline   ·   Khmer-first UI   ·   KHR + USD   ·   No accounts, no data leaves the phone</a:t>
            </a:r>
            <a:endParaRPr sz="12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3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548640" y="653796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USER FLOW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From first launch to daily use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377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4D2E"/>
                </a:solidFill>
                <a:latin typeface="Calibri"/>
              </a:rPr>
              <a:t>Splash</a:t>
            </a:r>
            <a:endParaRPr sz="18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E6A"/>
                </a:solidFill>
                <a:latin typeface="Calibri"/>
              </a:rPr>
              <a:t>🌱  Brand intro</a:t>
            </a:r>
            <a:endParaRPr sz="12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200" b="0">
                <a:solidFill>
                  <a:srgbClr val="6B6E6A"/>
                </a:solidFill>
                <a:latin typeface="Calibri"/>
              </a:rPr>
              <a:t>2 seconds</a:t>
            </a:r>
            <a:endParaRPr sz="12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063240" y="2944368"/>
            <a:ext cx="365760" cy="329184"/>
          </a:xfrm>
          <a:prstGeom prst="rightArrow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194560"/>
            <a:ext cx="2377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4D2E"/>
                </a:solidFill>
                <a:latin typeface="Calibri"/>
              </a:rPr>
              <a:t>Onboarding</a:t>
            </a:r>
            <a:endParaRPr sz="18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3320" y="30632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E6A"/>
                </a:solidFill>
                <a:latin typeface="Calibri"/>
              </a:rPr>
              <a:t>3 pages</a:t>
            </a:r>
            <a:endParaRPr sz="12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200" b="0">
                <a:solidFill>
                  <a:srgbClr val="6B6E6A"/>
                </a:solidFill>
                <a:latin typeface="Calibri"/>
              </a:rPr>
              <a:t>Finance · Plan · Reports</a:t>
            </a:r>
            <a:endParaRPr sz="12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5897880" y="2944368"/>
            <a:ext cx="365760" cy="329184"/>
          </a:xfrm>
          <a:prstGeom prst="rightArrow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377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423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4D2E"/>
                </a:solidFill>
                <a:latin typeface="Calibri"/>
              </a:rPr>
              <a:t>Main App</a:t>
            </a:r>
            <a:endParaRPr sz="18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E6A"/>
                </a:solidFill>
                <a:latin typeface="Calibri"/>
              </a:rPr>
              <a:t>Tab bar with</a:t>
            </a:r>
            <a:endParaRPr sz="12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200" b="0">
                <a:solidFill>
                  <a:srgbClr val="6B6E6A"/>
                </a:solidFill>
                <a:latin typeface="Calibri"/>
              </a:rPr>
              <a:t>4 modules</a:t>
            </a:r>
            <a:endParaRPr sz="12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8732520" y="2944368"/>
            <a:ext cx="365760" cy="329184"/>
          </a:xfrm>
          <a:prstGeom prst="rightArrow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194560"/>
            <a:ext cx="23774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423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4D2E"/>
                </a:solidFill>
                <a:latin typeface="Calibri"/>
              </a:rPr>
              <a:t>Daily Use</a:t>
            </a:r>
            <a:endParaRPr sz="18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72600" y="30632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6E6A"/>
                </a:solidFill>
                <a:latin typeface="Calibri"/>
              </a:rPr>
              <a:t>Add txn · Plan task</a:t>
            </a:r>
            <a:endParaRPr sz="1200" b="0">
              <a:solidFill>
                <a:srgbClr val="6B6E6A"/>
              </a:solidFill>
              <a:latin typeface="Calibri"/>
            </a:endParaRPr>
          </a:p>
          <a:p>
            <a:pPr algn="ctr"/>
            <a:r>
              <a:rPr sz="1200" b="0">
                <a:solidFill>
                  <a:srgbClr val="6B6E6A"/>
                </a:solidFill>
                <a:latin typeface="Calibri"/>
              </a:rPr>
              <a:t>Look up pest · Backup</a:t>
            </a:r>
            <a:endParaRPr sz="12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A1F1C"/>
                </a:solidFill>
                <a:latin typeface="Calibri"/>
              </a:rPr>
              <a:t>First run takes ~30 seconds.   Daily use is single-tap actions.</a:t>
            </a:r>
            <a:endParaRPr sz="14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6E6A"/>
                </a:solidFill>
                <a:latin typeface="Calibri"/>
              </a:rPr>
              <a:t>Persistent local storage means the app opens with your data — every time, online or off.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4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54864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FEATURE 1 / 4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Finance Tracker — track every riel and dollar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3232" y="1913890"/>
            <a:ext cx="2414016" cy="6350"/>
          </a:xfrm>
          <a:prstGeom prst="rect">
            <a:avLst/>
          </a:prstGeom>
          <a:solidFill>
            <a:srgbClr val="D8D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6138418"/>
            <a:ext cx="2414016" cy="6350"/>
          </a:xfrm>
          <a:prstGeom prst="rect">
            <a:avLst/>
          </a:prstGeom>
          <a:solidFill>
            <a:srgbClr val="D8D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6001" y="6217793"/>
            <a:ext cx="603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B0B4B1"/>
                </a:solidFill>
                <a:latin typeface="Calibri"/>
              </a:rPr>
              <a:t>=</a:t>
            </a:r>
            <a:endParaRPr sz="1200" b="0">
              <a:solidFill>
                <a:srgbClr val="B0B4B1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4048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E43"/>
                </a:solidFill>
                <a:latin typeface="Calibri"/>
              </a:rPr>
              <a:t>Why farmers care</a:t>
            </a:r>
            <a:endParaRPr sz="13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40480" y="19659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A423D"/>
                </a:solidFill>
                <a:latin typeface="Calibri"/>
              </a:rPr>
              <a:t>Profit isn't profit until you've counted it.</a:t>
            </a:r>
            <a:endParaRPr sz="14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3A423D"/>
                </a:solidFill>
                <a:latin typeface="Calibri"/>
              </a:rPr>
              <a:t>Most small farmers know revenue but not net.</a:t>
            </a:r>
            <a:endParaRPr sz="14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40480" y="3246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E43"/>
                </a:solidFill>
                <a:latin typeface="Calibri"/>
              </a:rPr>
              <a:t>What it does</a:t>
            </a:r>
            <a:endParaRPr sz="13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40480" y="3657600"/>
            <a:ext cx="7772400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Add income / expense in seconds (FAB → bottom sheet)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Dual currency: KHR ↔ USD at a stable rate (4,100)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Categories: </a:t>
            </a:r>
            <a:r>
              <a:rPr sz="1200" b="0">
                <a:solidFill>
                  <a:srgbClr val="3A423D"/>
                </a:solidFill>
                <a:latin typeface="Khmer OS Siemreap" panose="02000500000000020004" charset="0"/>
                <a:cs typeface="Khmer OS Siemreap" panose="02000500000000020004" charset="0"/>
              </a:rPr>
              <a:t>ជី, ពូជ, ការងារ, ឧបករណ៍, លក់</a:t>
            </a:r>
            <a:endParaRPr sz="1200" b="0">
              <a:solidFill>
                <a:srgbClr val="3A423D"/>
              </a:solidFill>
              <a:latin typeface="Khmer OS Siemreap" panose="02000500000000020004" charset="0"/>
              <a:cs typeface="Khmer OS Siemreap" panose="0200050000000002000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Live balance, income, expense breakdown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Filter chips: All / Income / Expense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CSV export for record-keeping or microfinance applications</a:t>
            </a:r>
            <a:endParaRPr sz="12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840480" y="5486400"/>
            <a:ext cx="7772400" cy="731520"/>
          </a:xfrm>
          <a:prstGeom prst="round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336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4D2E"/>
                </a:solidFill>
                <a:latin typeface="Calibri"/>
              </a:rPr>
              <a:t>Add Transaction Flow</a:t>
            </a:r>
            <a:endParaRPr sz="10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023360" y="577900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Tap +  →  Income / Expense  →  Amount + Date + Currency  →  Category + Note  →  Save</a:t>
            </a:r>
            <a:endParaRPr sz="11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5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015" y="1296670"/>
            <a:ext cx="2470785" cy="5182235"/>
          </a:xfrm>
          <a:prstGeom prst="roundRect">
            <a:avLst/>
          </a:prstGeom>
        </p:spPr>
      </p:pic>
      <p:sp>
        <p:nvSpPr>
          <p:cNvPr id="6" name="TextBox 19"/>
          <p:cNvSpPr txBox="1"/>
          <p:nvPr/>
        </p:nvSpPr>
        <p:spPr>
          <a:xfrm>
            <a:off x="59436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FEATURE 2 / 4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Calendar &amp; Activities — never miss a season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3232" y="1913890"/>
            <a:ext cx="2414016" cy="6350"/>
          </a:xfrm>
          <a:prstGeom prst="rect">
            <a:avLst/>
          </a:prstGeom>
          <a:solidFill>
            <a:srgbClr val="D8D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6138418"/>
            <a:ext cx="2414016" cy="6350"/>
          </a:xfrm>
          <a:prstGeom prst="rect">
            <a:avLst/>
          </a:prstGeom>
          <a:solidFill>
            <a:srgbClr val="D8D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97380" y="3300984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4048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E43"/>
                </a:solidFill>
                <a:latin typeface="Calibri"/>
              </a:rPr>
              <a:t>Why farmers care</a:t>
            </a:r>
            <a:endParaRPr sz="13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840480" y="19659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A423D"/>
                </a:solidFill>
                <a:latin typeface="Calibri"/>
              </a:rPr>
              <a:t>Crop cycles are unforgiving.</a:t>
            </a:r>
            <a:endParaRPr sz="14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3A423D"/>
                </a:solidFill>
                <a:latin typeface="Calibri"/>
              </a:rPr>
              <a:t>A missed spray window or a late harvest costs an entire season's margin.</a:t>
            </a:r>
            <a:endParaRPr sz="14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840480" y="3246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E43"/>
                </a:solidFill>
                <a:latin typeface="Calibri"/>
              </a:rPr>
              <a:t>What it does</a:t>
            </a:r>
            <a:endParaRPr sz="13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840480" y="3540760"/>
            <a:ext cx="7772400" cy="1846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 fontAlgn="auto">
              <a:lnSpc>
                <a:spcPct val="20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Month-grid view with dot markers on busy days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20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Activity types: </a:t>
            </a:r>
            <a:r>
              <a:rPr sz="1200" b="0">
                <a:solidFill>
                  <a:srgbClr val="3A423D"/>
                </a:solidFill>
                <a:latin typeface="Khmer OS Siemreap" panose="02000500000000020004" charset="0"/>
                <a:cs typeface="Khmer OS Siemreap" panose="02000500000000020004" charset="0"/>
              </a:rPr>
              <a:t>ដំណាំ (Plant) · ថែទាំ (Tend) · ការពារ (Protect) · ប្រមូល (Harvest)</a:t>
            </a:r>
            <a:endParaRPr sz="1200" b="0">
              <a:solidFill>
                <a:srgbClr val="3A423D"/>
              </a:solidFill>
              <a:latin typeface="Khmer OS Siemreap" panose="02000500000000020004" charset="0"/>
              <a:cs typeface="Khmer OS Siemreap" panose="02000500000000020004" charset="0"/>
            </a:endParaRPr>
          </a:p>
          <a:p>
            <a:pPr indent="0" algn="l" fontAlgn="auto">
              <a:lnSpc>
                <a:spcPct val="20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Tap a day → see only that day's activities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20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Mark done with a single tap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20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Add → Name + Date + Type → save → calendar dot appears</a:t>
            </a:r>
            <a:endParaRPr sz="12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3840480" y="5486400"/>
            <a:ext cx="7772400" cy="731520"/>
          </a:xfrm>
          <a:prstGeom prst="round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2336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4D2E"/>
                </a:solidFill>
                <a:latin typeface="Calibri"/>
              </a:rPr>
              <a:t>Schedule Activity Flow</a:t>
            </a:r>
            <a:endParaRPr sz="10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023360" y="577900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Pick day  →  Tap +  →  Name + Date + Type  →  Save  →  Dot on calendar</a:t>
            </a:r>
            <a:endParaRPr sz="11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6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2695"/>
            <a:ext cx="2389505" cy="4947920"/>
          </a:xfrm>
          <a:prstGeom prst="roundRect">
            <a:avLst/>
          </a:prstGeom>
        </p:spPr>
      </p:pic>
      <p:sp>
        <p:nvSpPr>
          <p:cNvPr id="52" name="TextBox 19"/>
          <p:cNvSpPr txBox="1"/>
          <p:nvPr/>
        </p:nvSpPr>
        <p:spPr>
          <a:xfrm>
            <a:off x="54864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FEATURE 3 / 4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Pest &amp; Disease Guide — answers without internet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84048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E43"/>
                </a:solidFill>
                <a:latin typeface="Calibri"/>
              </a:rPr>
              <a:t>Why farmers care</a:t>
            </a:r>
            <a:endParaRPr sz="13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40480" y="19659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A423D"/>
                </a:solidFill>
                <a:latin typeface="Calibri"/>
              </a:rPr>
              <a:t>When a pest appears, decisions are minutes — not days.</a:t>
            </a:r>
            <a:endParaRPr sz="14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3A423D"/>
                </a:solidFill>
                <a:latin typeface="Calibri"/>
              </a:rPr>
              <a:t>Online services aren't an option in the field.</a:t>
            </a:r>
            <a:endParaRPr sz="14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840480" y="3246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E43"/>
                </a:solidFill>
                <a:latin typeface="Calibri"/>
              </a:rPr>
              <a:t>What it does</a:t>
            </a:r>
            <a:endParaRPr sz="13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40480" y="3657600"/>
            <a:ext cx="7772400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Bundled offline library — no network call ever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Search by Khmer name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Category filter: </a:t>
            </a:r>
            <a:r>
              <a:rPr sz="1200" b="0">
                <a:solidFill>
                  <a:srgbClr val="3A423D"/>
                </a:solidFill>
                <a:latin typeface="Khmer OS Siemreap" panose="02000500000000020004" charset="0"/>
                <a:cs typeface="Khmer OS Siemreap" panose="02000500000000020004" charset="0"/>
              </a:rPr>
              <a:t>សត្វល្អិត (Insects), ផ្សិត (Fungal), បាក់តេរី (Bacterial)</a:t>
            </a:r>
            <a:endParaRPr sz="1200" b="0">
              <a:solidFill>
                <a:srgbClr val="3A423D"/>
              </a:solidFill>
              <a:latin typeface="Khmer OS Siemreap" panose="02000500000000020004" charset="0"/>
              <a:cs typeface="Khmer OS Siemreap" panose="0200050000000002000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Detail view with expandable sections: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      </a:t>
            </a:r>
            <a:r>
              <a:rPr sz="1200" b="0">
                <a:solidFill>
                  <a:srgbClr val="3A423D"/>
                </a:solidFill>
                <a:latin typeface="Khmer OS Siemreap" panose="02000500000000020004" charset="0"/>
                <a:cs typeface="Khmer OS Siemreap" panose="02000500000000020004" charset="0"/>
              </a:rPr>
              <a:t>រោគសញ្ញា (Symptoms) · វិធីព្យាបាល (Treatment) · វិធីការពារ (Prevention)</a:t>
            </a:r>
            <a:endParaRPr sz="1200" b="0">
              <a:solidFill>
                <a:srgbClr val="3A423D"/>
              </a:solidFill>
              <a:latin typeface="Khmer OS Siemreap" panose="02000500000000020004" charset="0"/>
              <a:cs typeface="Khmer OS Siemreap" panose="0200050000000002000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Designed to scale to 30–50 entries with photos</a:t>
            </a:r>
            <a:endParaRPr sz="12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840480" y="5486400"/>
            <a:ext cx="7772400" cy="731520"/>
          </a:xfrm>
          <a:prstGeom prst="round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4D2E"/>
                </a:solidFill>
                <a:latin typeface="Calibri"/>
              </a:rPr>
              <a:t>Lookup Flow</a:t>
            </a:r>
            <a:endParaRPr sz="10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023360" y="577900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Search or Filter  →  Tap pest  →  Expand sections  →  Apply treatment</a:t>
            </a:r>
            <a:endParaRPr sz="11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7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04925"/>
            <a:ext cx="2336800" cy="4885690"/>
          </a:xfrm>
          <a:prstGeom prst="roundRect">
            <a:avLst/>
          </a:prstGeom>
        </p:spPr>
      </p:pic>
      <p:sp>
        <p:nvSpPr>
          <p:cNvPr id="52" name="TextBox 19"/>
          <p:cNvSpPr txBox="1"/>
          <p:nvPr/>
        </p:nvSpPr>
        <p:spPr>
          <a:xfrm>
            <a:off x="54864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FEATURE 4 / 4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Settings &amp; Backup — own your data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3232" y="1913890"/>
            <a:ext cx="2414016" cy="6350"/>
          </a:xfrm>
          <a:prstGeom prst="rect">
            <a:avLst/>
          </a:prstGeom>
          <a:solidFill>
            <a:srgbClr val="D8D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6138418"/>
            <a:ext cx="2414016" cy="6350"/>
          </a:xfrm>
          <a:prstGeom prst="rect">
            <a:avLst/>
          </a:prstGeom>
          <a:solidFill>
            <a:srgbClr val="D8D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3246120"/>
            <a:ext cx="960120" cy="365760"/>
          </a:xfrm>
          <a:prstGeom prst="round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965960" y="3246120"/>
            <a:ext cx="960120" cy="365760"/>
          </a:xfrm>
          <a:prstGeom prst="round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E43"/>
                </a:solidFill>
                <a:latin typeface="Calibri"/>
              </a:rPr>
              <a:t>Why farmers care</a:t>
            </a:r>
            <a:endParaRPr sz="13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40480" y="19659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A423D"/>
                </a:solidFill>
                <a:latin typeface="Calibri"/>
              </a:rPr>
              <a:t>Phones break. Phones get sold. Phones get reset.</a:t>
            </a:r>
            <a:endParaRPr sz="14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3A423D"/>
                </a:solidFill>
                <a:latin typeface="Calibri"/>
              </a:rPr>
              <a:t>Two seasons of records vanish in one moment without backup.</a:t>
            </a:r>
            <a:endParaRPr sz="14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840480" y="3246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E43"/>
                </a:solidFill>
                <a:latin typeface="Calibri"/>
              </a:rPr>
              <a:t>What it does</a:t>
            </a:r>
            <a:endParaRPr sz="13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840480" y="3657600"/>
            <a:ext cx="7772400" cy="17926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Light / dark theme — usable in bright sun and at night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Data stats — see counts at a glance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CSV export — share with cooperatives, MFIs, tax officers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Full JSON backup — one tap, save to Files / share / cloud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Restore — load a backup file, replace current data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15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Clear all — fresh start, with a confirmation guard</a:t>
            </a:r>
            <a:endParaRPr sz="12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840480" y="5486400"/>
            <a:ext cx="7772400" cy="731520"/>
          </a:xfrm>
          <a:prstGeom prst="round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4D2E"/>
                </a:solidFill>
                <a:latin typeface="Calibri"/>
              </a:rPr>
              <a:t>Backup &amp; Restore Flow</a:t>
            </a:r>
            <a:endParaRPr sz="10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023360" y="577900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Settings  →  Backup all (JSON)  →  Save file  →  (later) Restore from file  →  Confirm</a:t>
            </a:r>
            <a:endParaRPr sz="11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8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20" y="1363980"/>
            <a:ext cx="2308860" cy="4895215"/>
          </a:xfrm>
          <a:prstGeom prst="roundRect">
            <a:avLst/>
          </a:prstGeom>
        </p:spPr>
      </p:pic>
      <p:sp>
        <p:nvSpPr>
          <p:cNvPr id="6" name="TextBox 19"/>
          <p:cNvSpPr txBox="1"/>
          <p:nvPr/>
        </p:nvSpPr>
        <p:spPr>
          <a:xfrm>
            <a:off x="54864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WHY NOW &amp; WHY US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Four reasons SmartFarm is different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440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64592" cy="228600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6E43"/>
                </a:solidFill>
                <a:latin typeface="Calibri"/>
              </a:rPr>
              <a:t>[OFF]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68880" y="17830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F1C"/>
                </a:solidFill>
                <a:latin typeface="Calibri"/>
              </a:rPr>
              <a:t>Truly offline</a:t>
            </a:r>
            <a:endParaRPr sz="1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Every feature works with airplane mode on.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Reference data is bundled. Storage is local.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Cloud-first competitors fail in rural Cambodia.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440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64592" cy="228600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373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6E43"/>
                </a:solidFill>
                <a:latin typeface="Calibri"/>
              </a:rPr>
              <a:t>[KH]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2440" y="17830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F1C"/>
                </a:solidFill>
                <a:latin typeface="Calibri"/>
              </a:rPr>
              <a:t>Khmer-first by design</a:t>
            </a:r>
            <a:endParaRPr sz="1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Every label, every category, every pest name —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in Khmer. Not a translation layer.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40"/>
            <a:ext cx="5440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40"/>
            <a:ext cx="164592" cy="228600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6E43"/>
                </a:solidFill>
                <a:latin typeface="Calibri"/>
              </a:rPr>
              <a:t>[$$]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68880" y="420624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F1C"/>
                </a:solidFill>
                <a:latin typeface="Calibri"/>
              </a:rPr>
              <a:t>Dual currency native</a:t>
            </a:r>
            <a:endParaRPr sz="1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68880" y="4754880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KHR and USD both first-class.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Reflects how Cambodian commerce actually works.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3977640"/>
            <a:ext cx="54406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977640"/>
            <a:ext cx="164592" cy="228600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1605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6E43"/>
                </a:solidFill>
                <a:latin typeface="Calibri"/>
              </a:rPr>
              <a:t>[--]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92440" y="420624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F1C"/>
                </a:solidFill>
                <a:latin typeface="Calibri"/>
              </a:rPr>
              <a:t>No account, no friction</a:t>
            </a:r>
            <a:endParaRPr sz="16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92440" y="4754880"/>
            <a:ext cx="3337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Open the app. Use it.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No login, no email, no data leaves the phone.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9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54864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7056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STATUS &amp; TECH STACK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Working demo today, native iOS tomorrow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907540" y="1390015"/>
            <a:ext cx="36118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7540" y="1390015"/>
            <a:ext cx="3611880" cy="50292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7540" y="1499743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Today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81860" y="2167255"/>
            <a:ext cx="31546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•  Working React + Vite demo</a:t>
            </a:r>
            <a:endParaRPr sz="11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•  Khmer UI, KHR/USD, theme toggle</a:t>
            </a:r>
            <a:endParaRPr sz="11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•  All four modules functional</a:t>
            </a:r>
            <a:endParaRPr sz="11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•  CSV export + JSON backup live</a:t>
            </a:r>
            <a:endParaRPr sz="11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38620" y="1412875"/>
            <a:ext cx="36118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38620" y="1390015"/>
            <a:ext cx="3611880" cy="502920"/>
          </a:xfrm>
          <a:prstGeom prst="rect">
            <a:avLst/>
          </a:prstGeom>
          <a:solidFill>
            <a:srgbClr val="8B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8620" y="1499743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 3 months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12940" y="2167255"/>
            <a:ext cx="3154680" cy="84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•  Native iOS port (Swift / SwiftUI)</a:t>
            </a:r>
            <a:endParaRPr sz="11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•  iOS 13+ deployment target</a:t>
            </a:r>
            <a:endParaRPr sz="11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100">
                <a:solidFill>
                  <a:srgbClr val="3A423D"/>
                </a:solidFill>
                <a:latin typeface="Calibri"/>
                <a:sym typeface="+mn-ea"/>
              </a:rPr>
              <a:t>•  </a:t>
            </a:r>
            <a:r>
              <a:rPr lang="en-US" sz="1100">
                <a:solidFill>
                  <a:srgbClr val="3A423D"/>
                </a:solidFill>
                <a:latin typeface="Calibri"/>
                <a:sym typeface="+mn-ea"/>
              </a:rPr>
              <a:t>P</a:t>
            </a:r>
            <a:r>
              <a:rPr sz="1100">
                <a:solidFill>
                  <a:srgbClr val="3A423D"/>
                </a:solidFill>
                <a:latin typeface="Calibri"/>
                <a:sym typeface="+mn-ea"/>
              </a:rPr>
              <a:t>hoto-based pest detail (30–50 entries)</a:t>
            </a:r>
            <a:endParaRPr sz="11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•  CoreData persistence</a:t>
            </a:r>
            <a:endParaRPr sz="1100" b="0">
              <a:solidFill>
                <a:srgbClr val="3A423D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3A423D"/>
                </a:solidFill>
                <a:latin typeface="Calibri"/>
              </a:rPr>
              <a:t>•  Local notifications for activities</a:t>
            </a:r>
            <a:endParaRPr sz="11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5943600"/>
            <a:ext cx="10881360" cy="457200"/>
          </a:xfrm>
          <a:prstGeom prst="roundRect">
            <a:avLst/>
          </a:prstGeom>
          <a:solidFill>
            <a:srgbClr val="E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3A423D"/>
                </a:solidFill>
                <a:latin typeface="Calibri"/>
              </a:rPr>
              <a:t>Stack:  React 18  ·  Vite  ·  localStorage   →   SwiftUI  ·  CoreData  ·  iOS 13+</a:t>
            </a:r>
            <a:endParaRPr sz="1100" b="1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10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THE OPPORTUNITY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A real audience, a real product, a clear path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611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4D2E"/>
                </a:solidFill>
                <a:latin typeface="Calibri"/>
              </a:rPr>
              <a:t>Cambodia</a:t>
            </a:r>
            <a:endParaRPr sz="22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5A2B"/>
                </a:solidFill>
                <a:latin typeface="Calibri"/>
              </a:rPr>
              <a:t>agriculture-led economy</a:t>
            </a:r>
            <a:endParaRPr sz="1200" b="1">
              <a:solidFill>
                <a:srgbClr val="8B5A2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Small farmers form the backbone of rural livelihoods.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Few have any digital tool today.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611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4D2E"/>
                </a:solidFill>
                <a:latin typeface="Calibri"/>
              </a:rPr>
              <a:t>Smartphones</a:t>
            </a:r>
            <a:endParaRPr sz="22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5A2B"/>
                </a:solidFill>
                <a:latin typeface="Calibri"/>
              </a:rPr>
              <a:t>wide &amp; growing reach</a:t>
            </a:r>
            <a:endParaRPr sz="1200" b="1">
              <a:solidFill>
                <a:srgbClr val="8B5A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3154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Entry-level older iPhones are common,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even in rural districts.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611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4D2E"/>
                </a:solidFill>
                <a:latin typeface="Calibri"/>
              </a:rPr>
              <a:t>Connectivity</a:t>
            </a:r>
            <a:endParaRPr sz="22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5A2B"/>
                </a:solidFill>
                <a:latin typeface="Calibri"/>
              </a:rPr>
              <a:t>still the blocker</a:t>
            </a:r>
            <a:endParaRPr sz="1200" b="1">
              <a:solidFill>
                <a:srgbClr val="8B5A2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154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Network coverage is uneven; data is costly.</a:t>
            </a:r>
            <a:endParaRPr sz="1100" b="0">
              <a:solidFill>
                <a:srgbClr val="6B6E6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6B6E6A"/>
                </a:solidFill>
                <a:latin typeface="Calibri"/>
              </a:rPr>
              <a:t>Offline-first is the unlock.</a:t>
            </a:r>
            <a:endParaRPr sz="11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10881360" cy="1828800"/>
          </a:xfrm>
          <a:prstGeom prst="round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4D2E"/>
                </a:solidFill>
                <a:latin typeface="Calibri"/>
              </a:rPr>
              <a:t>What we have right now</a:t>
            </a:r>
            <a:endParaRPr sz="12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4754880"/>
            <a:ext cx="10515600" cy="110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 fontAlgn="auto">
              <a:lnSpc>
                <a:spcPct val="20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A working app, not a deck — every feature on the previous slides is built and runs offline today.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20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Khmer UX validated against the real domain (categories, activity types, common pests).</a:t>
            </a:r>
            <a:endParaRPr sz="1200" b="0">
              <a:solidFill>
                <a:srgbClr val="3A423D"/>
              </a:solidFill>
              <a:latin typeface="Calibri"/>
            </a:endParaRPr>
          </a:p>
          <a:p>
            <a:pPr indent="0" algn="l" fontAlgn="auto">
              <a:lnSpc>
                <a:spcPct val="200000"/>
              </a:lnSpc>
            </a:pPr>
            <a:r>
              <a:rPr sz="1200" b="0">
                <a:solidFill>
                  <a:srgbClr val="3A423D"/>
                </a:solidFill>
                <a:latin typeface="Calibri"/>
              </a:rPr>
              <a:t>•  A clear, conservative roadmap to a native iOS app supporting devices farmers actually own.</a:t>
            </a:r>
            <a:endParaRPr sz="12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11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54864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41148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6E43"/>
                </a:solidFill>
                <a:latin typeface="Calibri"/>
              </a:rPr>
              <a:t>COMPETITIVE LANDSCAPE</a:t>
            </a:r>
            <a:endParaRPr sz="11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F1C"/>
                </a:solidFill>
                <a:latin typeface="Calibri"/>
              </a:rPr>
              <a:t>Why farmers will pick SmartFarm over what they have today</a:t>
            </a:r>
            <a:endParaRPr sz="2800" b="1">
              <a:solidFill>
                <a:srgbClr val="1A1F1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3A423D"/>
                </a:solidFill>
                <a:latin typeface="Calibri"/>
              </a:rPr>
              <a:t>Feature</a:t>
            </a:r>
            <a:endParaRPr sz="1100" b="1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7680" y="15910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6B6E6A"/>
                </a:solidFill>
                <a:latin typeface="Calibri"/>
              </a:rPr>
              <a:t>Paper notebook</a:t>
            </a:r>
            <a:endParaRPr sz="1100" b="1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97680" y="1773936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B0B4B1"/>
                </a:solidFill>
                <a:latin typeface="Calibri"/>
              </a:rPr>
              <a:t>(today)</a:t>
            </a:r>
            <a:endParaRPr sz="800" b="0">
              <a:solidFill>
                <a:srgbClr val="B0B4B1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29400" y="15910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8B5A2B"/>
                </a:solidFill>
                <a:latin typeface="Calibri"/>
              </a:rPr>
              <a:t>Cloud farming app</a:t>
            </a:r>
            <a:endParaRPr sz="1100" b="1">
              <a:solidFill>
                <a:srgbClr val="8B5A2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1773936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B0B4B1"/>
                </a:solidFill>
                <a:latin typeface="Calibri"/>
              </a:rPr>
              <a:t>e.g. Plantix</a:t>
            </a:r>
            <a:endParaRPr sz="800" b="0">
              <a:solidFill>
                <a:srgbClr val="B0B4B1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331720" cy="411480"/>
          </a:xfrm>
          <a:prstGeom prst="roundRect">
            <a:avLst/>
          </a:prstGeom>
          <a:solidFill>
            <a:srgbClr val="E8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5910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F4D2E"/>
                </a:solidFill>
                <a:latin typeface="Calibri"/>
              </a:rPr>
              <a:t>SmartFarm</a:t>
            </a:r>
            <a:endParaRPr sz="1100" b="1">
              <a:solidFill>
                <a:srgbClr val="1F4D2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0" y="1773936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B0B4B1"/>
                </a:solidFill>
                <a:latin typeface="Calibri"/>
              </a:rPr>
              <a:t>(us)</a:t>
            </a:r>
            <a:endParaRPr sz="800" b="0">
              <a:solidFill>
                <a:srgbClr val="B0B4B1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10652760" cy="411480"/>
          </a:xfrm>
          <a:prstGeom prst="rect">
            <a:avLst/>
          </a:prstGeom>
          <a:solidFill>
            <a:srgbClr val="E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A423D"/>
                </a:solidFill>
                <a:latin typeface="Calibri"/>
              </a:rPr>
              <a:t>Works fully offline</a:t>
            </a:r>
            <a:endParaRPr sz="10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7680" y="20116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0116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0382A"/>
                </a:solidFill>
                <a:latin typeface="Calibri"/>
              </a:rPr>
              <a:t>✗</a:t>
            </a:r>
            <a:endParaRPr sz="1800" b="1">
              <a:solidFill>
                <a:srgbClr val="B0382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24231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A423D"/>
                </a:solidFill>
                <a:latin typeface="Calibri"/>
              </a:rPr>
              <a:t>Khmer-first interface</a:t>
            </a:r>
            <a:endParaRPr sz="10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97680" y="24231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29400" y="24231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0382A"/>
                </a:solidFill>
                <a:latin typeface="Calibri"/>
              </a:rPr>
              <a:t>✗</a:t>
            </a:r>
            <a:endParaRPr sz="1800" b="1">
              <a:solidFill>
                <a:srgbClr val="B0382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61120" y="24231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2834640"/>
            <a:ext cx="10652760" cy="411480"/>
          </a:xfrm>
          <a:prstGeom prst="rect">
            <a:avLst/>
          </a:prstGeom>
          <a:solidFill>
            <a:srgbClr val="E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8346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A423D"/>
                </a:solidFill>
                <a:latin typeface="Calibri"/>
              </a:rPr>
              <a:t>Searchable records</a:t>
            </a:r>
            <a:endParaRPr sz="10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7680" y="28346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0382A"/>
                </a:solidFill>
                <a:latin typeface="Calibri"/>
              </a:rPr>
              <a:t>✗</a:t>
            </a:r>
            <a:endParaRPr sz="1800" b="1">
              <a:solidFill>
                <a:srgbClr val="B0382A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29400" y="28346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61120" y="28346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32461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A423D"/>
                </a:solidFill>
                <a:latin typeface="Calibri"/>
              </a:rPr>
              <a:t>Built-in pest &amp; disease library</a:t>
            </a:r>
            <a:endParaRPr sz="10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97680" y="32461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0382A"/>
                </a:solidFill>
                <a:latin typeface="Calibri"/>
              </a:rPr>
              <a:t>✗</a:t>
            </a:r>
            <a:endParaRPr sz="1800" b="1">
              <a:solidFill>
                <a:srgbClr val="B0382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29400" y="32461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61120" y="32461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" y="3657600"/>
            <a:ext cx="10652760" cy="411480"/>
          </a:xfrm>
          <a:prstGeom prst="rect">
            <a:avLst/>
          </a:prstGeom>
          <a:solidFill>
            <a:srgbClr val="E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6576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A423D"/>
                </a:solidFill>
                <a:latin typeface="Calibri"/>
              </a:rPr>
              <a:t>Activity reminders &amp; calendar</a:t>
            </a:r>
            <a:endParaRPr sz="10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97680" y="365760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0382A"/>
                </a:solidFill>
                <a:latin typeface="Calibri"/>
              </a:rPr>
              <a:t>✗</a:t>
            </a:r>
            <a:endParaRPr sz="1800" b="1">
              <a:solidFill>
                <a:srgbClr val="B0382A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9400" y="365760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61120" y="365760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40690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A423D"/>
                </a:solidFill>
                <a:latin typeface="Calibri"/>
              </a:rPr>
              <a:t>Backup &amp; restore</a:t>
            </a:r>
            <a:endParaRPr sz="10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297680" y="4069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0382A"/>
                </a:solidFill>
                <a:latin typeface="Calibri"/>
              </a:rPr>
              <a:t>✗</a:t>
            </a:r>
            <a:endParaRPr sz="1800" b="1">
              <a:solidFill>
                <a:srgbClr val="B0382A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29400" y="4069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61120" y="406908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40080" y="4480560"/>
            <a:ext cx="10652760" cy="411480"/>
          </a:xfrm>
          <a:prstGeom prst="rect">
            <a:avLst/>
          </a:prstGeom>
          <a:solidFill>
            <a:srgbClr val="EE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4805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A423D"/>
                </a:solidFill>
                <a:latin typeface="Calibri"/>
              </a:rPr>
              <a:t>Free, no account required</a:t>
            </a:r>
            <a:endParaRPr sz="10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97680" y="44805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29400" y="44805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0382A"/>
                </a:solidFill>
                <a:latin typeface="Calibri"/>
              </a:rPr>
              <a:t>✗</a:t>
            </a:r>
            <a:endParaRPr sz="1800" b="1">
              <a:solidFill>
                <a:srgbClr val="B0382A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1120" y="44805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7240" y="48920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A423D"/>
                </a:solidFill>
                <a:latin typeface="Calibri"/>
              </a:rPr>
              <a:t>Designed for Cambodian farmers</a:t>
            </a:r>
            <a:endParaRPr sz="1000" b="0">
              <a:solidFill>
                <a:srgbClr val="3A423D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297680" y="48920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8B5A2B"/>
                </a:solidFill>
                <a:latin typeface="Calibri"/>
              </a:rPr>
              <a:t>~</a:t>
            </a:r>
            <a:endParaRPr sz="1800" b="1">
              <a:solidFill>
                <a:srgbClr val="8B5A2B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29400" y="48920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0382A"/>
                </a:solidFill>
                <a:latin typeface="Calibri"/>
              </a:rPr>
              <a:t>✗</a:t>
            </a:r>
            <a:endParaRPr sz="1800" b="1">
              <a:solidFill>
                <a:srgbClr val="B0382A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961120" y="48920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6E43"/>
                </a:solidFill>
                <a:latin typeface="Calibri"/>
              </a:rPr>
              <a:t>✓</a:t>
            </a:r>
            <a:endParaRPr sz="1800" b="1">
              <a:solidFill>
                <a:srgbClr val="2E6E43"/>
              </a:solidFill>
              <a:latin typeface="Calibri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40080" y="5943600"/>
            <a:ext cx="10881360" cy="502920"/>
          </a:xfrm>
          <a:prstGeom prst="round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SmartFarm is the only option that wins on every axis rural Cambodian farmers actually care about.</a:t>
            </a:r>
            <a:endParaRPr sz="1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69848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E6A"/>
                </a:solidFill>
                <a:latin typeface="Calibri"/>
              </a:rPr>
              <a:t>12 / 16</a:t>
            </a:r>
            <a:endParaRPr sz="900" b="0">
              <a:solidFill>
                <a:srgbClr val="6B6E6A"/>
              </a:solidFill>
              <a:latin typeface="Calibri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548640" y="6582410"/>
            <a:ext cx="548640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900" b="0">
              <a:solidFill>
                <a:srgbClr val="6B6E6A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Thank you</a:t>
            </a:r>
            <a:endParaRPr sz="6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សូមអរគុណ</a:t>
            </a:r>
            <a:endParaRPr sz="28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Questions, partnerships, pilots — let's talk.</a:t>
            </a:r>
            <a:endParaRPr sz="18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6424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hmer OS Siemreap" panose="02000500000000020004" charset="0"/>
                <a:cs typeface="Khmer OS Siemreap" panose="02000500000000020004" charset="0"/>
              </a:rPr>
              <a:t>SmartFarm — កសិកម្មឆ្លាតវៃ ងាយស្រួល</a:t>
            </a:r>
            <a:endParaRPr sz="1200" b="1">
              <a:solidFill>
                <a:srgbClr val="FFFFFF"/>
              </a:solidFill>
              <a:latin typeface="Khmer OS Siemreap" panose="02000500000000020004" charset="0"/>
              <a:cs typeface="Khmer OS Siemreap" panose="020005000000000200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6584</Words>
  <Application>WPS Sheets</Application>
  <PresentationFormat>On-screen Show (4:3)</PresentationFormat>
  <Paragraphs>420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Helvetica Neue</vt:lpstr>
      <vt:lpstr>Khmer OS Siemreap</vt:lpstr>
      <vt:lpstr>Apple Color Emoji</vt:lpstr>
      <vt:lpstr>Microsoft YaHei</vt:lpstr>
      <vt:lpstr>汉仪旗黑</vt:lpstr>
      <vt:lpstr>SimSun</vt:lpstr>
      <vt:lpstr>宋体-简</vt:lpstr>
      <vt:lpstr>Arial Unicode MS</vt:lpstr>
      <vt:lpstr>AKbalthom Freehand</vt:lpstr>
      <vt:lpstr>SimSun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sothea007</cp:lastModifiedBy>
  <cp:revision>77</cp:revision>
  <dcterms:created xsi:type="dcterms:W3CDTF">2026-04-27T03:34:32Z</dcterms:created>
  <dcterms:modified xsi:type="dcterms:W3CDTF">2026-04-27T03:34:32Z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57AD99AE8CE3D350F688EC6971CA3349_42</vt:lpwstr>
  </property>
  <property fmtid="{D5CDD505-2E9C-101B-9397-08002B2CF9AE}" pid="3" name="KSOProductBuildVer">
    <vt:lpwstr>1033-12.1.25867.25867</vt:lpwstr>
  </property>
</Properties>
</file>