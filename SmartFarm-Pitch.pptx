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1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91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3931920" cy="1920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1000" b="0">
                <a:solidFill>
                  <a:srgbClr val="FFFFFF"/>
                </a:solidFill>
                <a:latin typeface="Calibri"/>
              </a:rPr>
              <a:t>🌱</a:t>
            </a:r>
            <a:endParaRPr sz="110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3931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SmartFarm</a:t>
            </a:r>
            <a:endParaRPr sz="36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4389120"/>
            <a:ext cx="39319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" altLang="en-US" sz="1400" b="0">
                <a:solidFill>
                  <a:srgbClr val="FFFFFF"/>
                </a:solidFill>
                <a:latin typeface="Kohinoor Bangla Regular" panose="02000000000000000000" charset="0"/>
                <a:cs typeface="Kohinoor Bangla Regular" panose="02000000000000000000" charset="0"/>
              </a:rPr>
              <a:t>កសិកម្មឆ្លាត</a:t>
            </a:r>
            <a:r>
              <a:rPr lang="" altLang="en-US" sz="1400" b="0">
                <a:solidFill>
                  <a:srgbClr val="FFFFFF"/>
                </a:solidFill>
                <a:latin typeface="Al Nile Regular" panose="00000400000000000000" charset="0"/>
                <a:cs typeface="Al Nile Regular" panose="00000400000000000000" charset="0"/>
              </a:rPr>
              <a:t>វ</a:t>
            </a:r>
            <a:r>
              <a:rPr lang="" altLang="en-US" sz="1400" b="0">
                <a:solidFill>
                  <a:srgbClr val="FFFFFF"/>
                </a:solidFill>
                <a:latin typeface="Kohinoor Bangla Regular" panose="02000000000000000000" charset="0"/>
                <a:cs typeface="Kohinoor Bangla Regular" panose="02000000000000000000" charset="0"/>
              </a:rPr>
              <a:t>ៃ ងាយស្រួល</a:t>
            </a:r>
            <a:endParaRPr lang="" altLang="en-US" sz="1400" b="0">
              <a:solidFill>
                <a:srgbClr val="FFFFFF"/>
              </a:solidFill>
              <a:latin typeface="Kohinoor Bangla Regular" panose="02000000000000000000" charset="0"/>
              <a:cs typeface="Kohinoor Bangla Regular" panose="02000000000000000000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A1F1C"/>
                </a:solidFill>
                <a:latin typeface="Calibri"/>
              </a:rPr>
              <a:t>An offline farm-management app</a:t>
            </a:r>
            <a:endParaRPr sz="2600" b="1">
              <a:solidFill>
                <a:srgbClr val="1A1F1C"/>
              </a:solidFill>
              <a:latin typeface="Calibri"/>
            </a:endParaRPr>
          </a:p>
          <a:p>
            <a:pPr algn="l"/>
            <a:r>
              <a:rPr sz="2600" b="1">
                <a:solidFill>
                  <a:srgbClr val="1A1F1C"/>
                </a:solidFill>
                <a:latin typeface="Calibri"/>
              </a:rPr>
              <a:t>built for Cambodian small-scale farmers.</a:t>
            </a:r>
            <a:endParaRPr sz="2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0" y="4023360"/>
            <a:ext cx="5943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6E6A"/>
                </a:solidFill>
                <a:latin typeface="Calibri"/>
              </a:rPr>
              <a:t>Track money. Plan activities.</a:t>
            </a:r>
            <a:endParaRPr sz="14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6B6E6A"/>
                </a:solidFill>
                <a:latin typeface="Calibri"/>
              </a:rPr>
              <a:t>Identify pests. All in Khmer. All offline.</a:t>
            </a:r>
            <a:endParaRPr sz="14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669280" y="603504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0B4B1"/>
                </a:solidFill>
                <a:latin typeface="Calibri"/>
              </a:rPr>
              <a:t>Presented by the SmartFarm team</a:t>
            </a:r>
            <a:endParaRPr sz="1000" b="0">
              <a:solidFill>
                <a:srgbClr val="B0B4B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THE PROBLEM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A1F1C"/>
                </a:solidFill>
                <a:latin typeface="Calibri"/>
              </a:rPr>
              <a:t>Farming small plots is a daily juggle of memory and guesswork</a:t>
            </a:r>
            <a:endParaRPr sz="2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64592" cy="2194560"/>
          </a:xfrm>
          <a:prstGeom prst="rect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4445" y="1816735"/>
            <a:ext cx="50355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CN" altLang="en-US" sz="2000" b="1">
                <a:solidFill>
                  <a:srgbClr val="2E6E43"/>
                </a:solidFill>
                <a:latin typeface="Calibri"/>
              </a:rPr>
              <a:t>💰</a:t>
            </a:r>
            <a:endParaRPr sz="20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28800" y="178308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Untracked money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28800" y="2331720"/>
            <a:ext cx="38404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Income and expenses live in notebooks or memory.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By harvest time, no one knows real profit.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554480"/>
            <a:ext cx="164592" cy="2194560"/>
          </a:xfrm>
          <a:prstGeom prst="rect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915" y="1816735"/>
            <a:ext cx="455295" cy="2736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zh-CN" altLang="en-US" sz="2000" b="1">
                <a:solidFill>
                  <a:srgbClr val="2E6E43"/>
                </a:solidFill>
                <a:latin typeface="Calibri"/>
              </a:rPr>
              <a:t>📅</a:t>
            </a:r>
            <a:endParaRPr sz="20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406640" y="178308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Missed activities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406640" y="2331720"/>
            <a:ext cx="38404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Planting, watering, spraying, harvesting — easy to lose the schedule.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A missed window costs a season.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388620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886200"/>
            <a:ext cx="164592" cy="2194560"/>
          </a:xfrm>
          <a:prstGeom prst="rect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4445" y="4173220"/>
            <a:ext cx="621665" cy="4108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zh-CN" altLang="en-US" sz="2000" b="1">
                <a:solidFill>
                  <a:srgbClr val="2E6E43"/>
                </a:solidFill>
                <a:latin typeface="Calibri"/>
              </a:rPr>
              <a:t>📖</a:t>
            </a:r>
            <a:endParaRPr sz="20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828800" y="411480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Unknown pests &amp; disease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828800" y="4663440"/>
            <a:ext cx="38404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By the time damage is visible, the right treatment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is often guessed at or asked from neighbors.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17920" y="388620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886200"/>
            <a:ext cx="164592" cy="2194560"/>
          </a:xfrm>
          <a:prstGeom prst="rect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690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E6E43"/>
                </a:solidFill>
                <a:latin typeface="Calibri"/>
              </a:rPr>
              <a:t>[X]</a:t>
            </a:r>
            <a:endParaRPr sz="20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406640" y="411480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Patchy connectivity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406640" y="4663440"/>
            <a:ext cx="38404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Rural areas have weak or no internet.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Cloud-only farming apps don't work where farmers actually farm.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2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548640" y="6359525"/>
            <a:ext cx="27686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0B4B1"/>
                </a:solidFill>
                <a:latin typeface="Calibri"/>
              </a:rPr>
              <a:t>Presented by the SmartFarm team</a:t>
            </a:r>
            <a:endParaRPr sz="1000" b="0">
              <a:solidFill>
                <a:srgbClr val="B0B4B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THE SOLUTION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One offline app, four tools farmers already need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2697480" cy="914400"/>
          </a:xfrm>
          <a:prstGeom prst="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269748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zh-CN" altLang="en-US" sz="2800" b="1">
                <a:solidFill>
                  <a:srgbClr val="2E6E43"/>
                </a:solidFill>
                <a:latin typeface="Calibri"/>
              </a:rPr>
              <a:t>💰</a:t>
            </a:r>
            <a:endParaRPr sz="2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A1F1C"/>
                </a:solidFill>
                <a:latin typeface="Calibri"/>
              </a:rPr>
              <a:t>Finance Tracker</a:t>
            </a:r>
            <a:endParaRPr sz="1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2240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Income &amp; expense in KHR or USD.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Live balance.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Categories, filters, dual currency.</a:t>
            </a:r>
            <a:endParaRPr sz="10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474720" y="155448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554480"/>
            <a:ext cx="2697480" cy="914400"/>
          </a:xfrm>
          <a:prstGeom prst="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737360"/>
            <a:ext cx="269748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zh-CN" altLang="en-US" sz="2800" b="1">
                <a:solidFill>
                  <a:srgbClr val="2E6E43"/>
                </a:solidFill>
                <a:latin typeface="Calibri"/>
                <a:sym typeface="+mn-ea"/>
              </a:rPr>
              <a:t>📅</a:t>
            </a:r>
            <a:endParaRPr sz="2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74720" y="260604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A1F1C"/>
                </a:solidFill>
                <a:latin typeface="Calibri"/>
              </a:rPr>
              <a:t>Calendar &amp; Activities</a:t>
            </a:r>
            <a:endParaRPr sz="1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703320" y="3063240"/>
            <a:ext cx="2240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Month grid with activity dots.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Plant / Tend / Protect / Harvest types.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Mark done, never forget.</a:t>
            </a:r>
            <a:endParaRPr sz="10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309360" y="155448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554480"/>
            <a:ext cx="2697480" cy="914400"/>
          </a:xfrm>
          <a:prstGeom prst="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37360"/>
            <a:ext cx="269748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zh-CN" altLang="en-US" sz="2800" b="1">
                <a:solidFill>
                  <a:srgbClr val="2E6E43"/>
                </a:solidFill>
                <a:latin typeface="Calibri"/>
                <a:sym typeface="+mn-ea"/>
              </a:rPr>
              <a:t>📖</a:t>
            </a:r>
            <a:endParaRPr sz="2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A1F1C"/>
                </a:solidFill>
                <a:latin typeface="Calibri"/>
              </a:rPr>
              <a:t>Pest &amp; Disease Guide</a:t>
            </a:r>
            <a:endParaRPr sz="1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37960" y="3063240"/>
            <a:ext cx="2240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Bundled offline library.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Search + category filters.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Symptoms, treatment, prevention.</a:t>
            </a:r>
            <a:endParaRPr sz="10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144000" y="155448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554480"/>
            <a:ext cx="2697480" cy="914400"/>
          </a:xfrm>
          <a:prstGeom prst="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737360"/>
            <a:ext cx="269748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altLang="en-US" sz="2800" b="1">
                <a:solidFill>
                  <a:srgbClr val="2E6E43"/>
                </a:solidFill>
                <a:latin typeface="Calibri"/>
              </a:rPr>
              <a:t>⚙️</a:t>
            </a:r>
            <a:endParaRPr lang="en-US" altLang="en-US" sz="2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144000" y="260604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A1F1C"/>
                </a:solidFill>
                <a:latin typeface="Calibri"/>
              </a:rPr>
              <a:t>Settings &amp; Backup</a:t>
            </a:r>
            <a:endParaRPr sz="1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372600" y="3063240"/>
            <a:ext cx="2240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Light / dark theme.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CSV export, JSON backup &amp; restore.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One tap to clear &amp; start fresh.</a:t>
            </a:r>
            <a:endParaRPr sz="10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40080" y="5486400"/>
            <a:ext cx="10881360" cy="64008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650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1F4D2E"/>
                </a:solidFill>
                <a:latin typeface="Calibri"/>
              </a:rPr>
              <a:t>100% offline   ·   Khmer-first UI   ·   KHR + USD   ·   No accounts, no data leaves the phone</a:t>
            </a:r>
            <a:endParaRPr sz="1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3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30" name="TextBox 10"/>
          <p:cNvSpPr txBox="1"/>
          <p:nvPr/>
        </p:nvSpPr>
        <p:spPr>
          <a:xfrm>
            <a:off x="594360" y="6355080"/>
            <a:ext cx="27432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0B4B1"/>
                </a:solidFill>
                <a:latin typeface="Calibri"/>
              </a:rPr>
              <a:t>Presented by the SmartFarm team</a:t>
            </a:r>
            <a:endParaRPr sz="1000" b="0">
              <a:solidFill>
                <a:srgbClr val="B0B4B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USER FLOW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From first launch to daily use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37744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1F4D2E"/>
                </a:solidFill>
                <a:latin typeface="Calibri"/>
              </a:rPr>
              <a:t>Splash</a:t>
            </a:r>
            <a:endParaRPr sz="18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1920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🌱  Brand intro</a:t>
            </a:r>
            <a:endParaRPr sz="12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2 seconds</a:t>
            </a:r>
            <a:endParaRPr sz="12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3063240" y="2944368"/>
            <a:ext cx="365760" cy="329184"/>
          </a:xfrm>
          <a:prstGeom prst="rightArrow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194560"/>
            <a:ext cx="237744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4231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1F4D2E"/>
                </a:solidFill>
                <a:latin typeface="Calibri"/>
              </a:rPr>
              <a:t>Onboarding</a:t>
            </a:r>
            <a:endParaRPr sz="18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703320" y="3063240"/>
            <a:ext cx="1920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3 pages</a:t>
            </a:r>
            <a:endParaRPr sz="12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Finance · Plan · Reports</a:t>
            </a:r>
            <a:endParaRPr sz="12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5897880" y="2944368"/>
            <a:ext cx="365760" cy="329184"/>
          </a:xfrm>
          <a:prstGeom prst="rightArrow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2194560"/>
            <a:ext cx="237744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4231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1F4D2E"/>
                </a:solidFill>
                <a:latin typeface="Calibri"/>
              </a:rPr>
              <a:t>Main App</a:t>
            </a:r>
            <a:endParaRPr sz="18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37960" y="3063240"/>
            <a:ext cx="1920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Tab bar with</a:t>
            </a:r>
            <a:endParaRPr sz="12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4 modules</a:t>
            </a:r>
            <a:endParaRPr sz="12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8732520" y="2944368"/>
            <a:ext cx="365760" cy="329184"/>
          </a:xfrm>
          <a:prstGeom prst="rightArrow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0" y="2194560"/>
            <a:ext cx="237744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4231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1F4D2E"/>
                </a:solidFill>
                <a:latin typeface="Calibri"/>
              </a:rPr>
              <a:t>Daily Use</a:t>
            </a:r>
            <a:endParaRPr sz="18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372600" y="3063240"/>
            <a:ext cx="1920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Add txn · Plan task</a:t>
            </a:r>
            <a:endParaRPr sz="12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Look up pest · Backup</a:t>
            </a:r>
            <a:endParaRPr sz="12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475488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A1F1C"/>
                </a:solidFill>
                <a:latin typeface="Calibri"/>
              </a:rPr>
              <a:t>First run takes ~30 seconds.   Daily use is single-tap actions.</a:t>
            </a:r>
            <a:endParaRPr sz="1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6E6A"/>
                </a:solidFill>
                <a:latin typeface="Calibri"/>
              </a:rPr>
              <a:t>Persistent local storage means the app opens with your data — every time, online or off.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4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548640" y="6359525"/>
            <a:ext cx="27686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0B4B1"/>
                </a:solidFill>
                <a:latin typeface="Calibri"/>
              </a:rPr>
              <a:t>Presented by the SmartFarm team</a:t>
            </a:r>
            <a:endParaRPr sz="1000" b="0">
              <a:solidFill>
                <a:srgbClr val="B0B4B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287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FEATURE 1 / 4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Finance Tracker — track every riel and dollar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" y="1913890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6138418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6001" y="6217793"/>
            <a:ext cx="60350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B0B4B1"/>
                </a:solidFill>
                <a:latin typeface="Calibri"/>
              </a:rPr>
              <a:t>=</a:t>
            </a:r>
            <a:endParaRPr sz="1200" b="0">
              <a:solidFill>
                <a:srgbClr val="B0B4B1"/>
              </a:solidFill>
              <a:latin typeface="Calibri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4048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Why farmers care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40480" y="19659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Profit isn't profit until you've counted it.</a:t>
            </a:r>
            <a:endParaRPr sz="14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Most small farmers know revenue but not net.</a:t>
            </a:r>
            <a:endParaRPr sz="14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840480" y="3246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What it does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840480" y="3657600"/>
            <a:ext cx="77724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Add income / expense in seconds (FAB → bottom sheet)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Dual currency: KHR ↔ USD at a stable rate (4,100)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Categories: ជី, ពូជ, ការងារ, ឧបករណ៍, លក់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Live balance, income, expense breakdown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Filter chips: All / Income / Expense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CSV export for record-keeping or microfinance applications</a:t>
            </a:r>
            <a:endParaRPr sz="12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3840480" y="5486400"/>
            <a:ext cx="7772400" cy="73152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23360" y="5532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F4D2E"/>
                </a:solidFill>
                <a:latin typeface="Calibri"/>
              </a:rPr>
              <a:t>Add Transaction Flow</a:t>
            </a:r>
            <a:endParaRPr sz="10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023360" y="577900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Tap +  →  Income / Expense  →  Amount + Date + Currency  →  Category + Note  →  Save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5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59" name="TextBox 10"/>
          <p:cNvSpPr txBox="1"/>
          <p:nvPr/>
        </p:nvSpPr>
        <p:spPr>
          <a:xfrm>
            <a:off x="584200" y="6614795"/>
            <a:ext cx="27686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0B4B1"/>
                </a:solidFill>
                <a:latin typeface="Calibri"/>
              </a:rPr>
              <a:t>Presented by the SmartFarm team</a:t>
            </a:r>
            <a:endParaRPr sz="1000" b="0">
              <a:solidFill>
                <a:srgbClr val="B0B4B1"/>
              </a:solidFill>
              <a:latin typeface="Calibri"/>
            </a:endParaRPr>
          </a:p>
        </p:txBody>
      </p:sp>
      <p:pic>
        <p:nvPicPr>
          <p:cNvPr id="62" name="Picture 61"/>
          <p:cNvPicPr>
            <a:picLocks noChangeAspect="1"/>
          </p:cNvPicPr>
          <p:nvPr/>
        </p:nvPicPr>
        <p:blipFill>
          <a:blip r:embed="rId1"/>
          <a:srcRect l="114738" t="1509" r="-114738" b="-1509"/>
          <a:stretch>
            <a:fillRect/>
          </a:stretch>
        </p:blipFill>
        <p:spPr>
          <a:xfrm>
            <a:off x="4460240" y="0"/>
            <a:ext cx="3270250" cy="6858000"/>
          </a:xfrm>
          <a:prstGeom prst="rect">
            <a:avLst/>
          </a:prstGeom>
        </p:spPr>
      </p:pic>
      <p:pic>
        <p:nvPicPr>
          <p:cNvPr id="63" name="Picture 6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015" y="1296670"/>
            <a:ext cx="2470785" cy="5182235"/>
          </a:xfrm>
          <a:prstGeom prst="round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FEATURE 2 / 4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Calendar &amp; Activities — never miss a season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" y="1913890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6138418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897380" y="3300984"/>
            <a:ext cx="45720" cy="45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4048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Why farmers care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3840480" y="19659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Crop cycles are unforgiving.</a:t>
            </a:r>
            <a:endParaRPr sz="14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A missed spray window or a late harvest costs an entire season's margin.</a:t>
            </a:r>
            <a:endParaRPr sz="14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3840480" y="3246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What it does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840480" y="3657600"/>
            <a:ext cx="77724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Month-grid view with dot markers on busy days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Activity types: ដំណាំ (Plant) · ថែទាំ (Tend) · ការពារ (Protect) · ប្រមូល (Harvest)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Tap a day → see only that day's activities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Mark done with a single tap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Add → Name + Date + Type → save → calendar dot appears</a:t>
            </a:r>
            <a:endParaRPr sz="12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3840480" y="5486400"/>
            <a:ext cx="7772400" cy="73152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023360" y="5532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F4D2E"/>
                </a:solidFill>
                <a:latin typeface="Calibri"/>
              </a:rPr>
              <a:t>Schedule Activity Flow</a:t>
            </a:r>
            <a:endParaRPr sz="10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023360" y="577900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Pick day  →  Tap +  →  Name + Date + Type  →  Save  →  Dot on calendar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6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86" name="TextBox 10"/>
          <p:cNvSpPr txBox="1"/>
          <p:nvPr/>
        </p:nvSpPr>
        <p:spPr>
          <a:xfrm>
            <a:off x="594360" y="6355080"/>
            <a:ext cx="27432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0B4B1"/>
                </a:solidFill>
                <a:latin typeface="Calibri"/>
              </a:rPr>
              <a:t>Presented by the SmartFarm team</a:t>
            </a:r>
            <a:endParaRPr sz="1000" b="0">
              <a:solidFill>
                <a:srgbClr val="B0B4B1"/>
              </a:solidFill>
              <a:latin typeface="Calibri"/>
            </a:endParaRPr>
          </a:p>
        </p:txBody>
      </p:sp>
      <p:pic>
        <p:nvPicPr>
          <p:cNvPr id="87" name="Picture 8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2695"/>
            <a:ext cx="2389505" cy="4947920"/>
          </a:xfrm>
          <a:prstGeom prst="round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635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FEATURE 3 / 4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Pest &amp; Disease Guide — answers without internet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84048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Why farmers care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840480" y="19659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When a pest appears, decisions are minutes — not days.</a:t>
            </a:r>
            <a:endParaRPr sz="14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Online services aren't an option in the field.</a:t>
            </a:r>
            <a:endParaRPr sz="14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840480" y="3246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What it does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840480" y="3657600"/>
            <a:ext cx="77724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Bundled offline library — no network call ever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Search by Khmer name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Category filter: សត្វល្អិត (Insects), ផ្សិត (Fungal), បាក់តេរី (Bacterial)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Detail view with expandable sections: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      រោគសញ្ញា (Symptoms) · វិធីព្យាបាល (Treatment) · វិធីការពារ (Prevention)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Designed to scale to 30–50 entries with photos</a:t>
            </a:r>
            <a:endParaRPr sz="12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3840480" y="5486400"/>
            <a:ext cx="7772400" cy="73152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23360" y="5532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F4D2E"/>
                </a:solidFill>
                <a:latin typeface="Calibri"/>
              </a:rPr>
              <a:t>Lookup Flow</a:t>
            </a:r>
            <a:endParaRPr sz="10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023360" y="577900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Search or Filter  →  Tap pest  →  Expand sections  →  Apply treatment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7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pic>
        <p:nvPicPr>
          <p:cNvPr id="54" name="Picture 5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04925"/>
            <a:ext cx="2336800" cy="4885690"/>
          </a:xfrm>
          <a:prstGeom prst="roundRect">
            <a:avLst/>
          </a:prstGeom>
        </p:spPr>
      </p:pic>
      <p:sp>
        <p:nvSpPr>
          <p:cNvPr id="86" name="TextBox 10"/>
          <p:cNvSpPr txBox="1"/>
          <p:nvPr/>
        </p:nvSpPr>
        <p:spPr>
          <a:xfrm>
            <a:off x="594360" y="6355080"/>
            <a:ext cx="27432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0B4B1"/>
                </a:solidFill>
                <a:latin typeface="Calibri"/>
              </a:rPr>
              <a:t>Presented by the SmartFarm team</a:t>
            </a:r>
            <a:endParaRPr sz="1000" b="0">
              <a:solidFill>
                <a:srgbClr val="B0B4B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FEATURE 4 / 4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Settings &amp; Backup — own your data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" y="1913890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6138418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14400" y="3246120"/>
            <a:ext cx="960120" cy="365760"/>
          </a:xfrm>
          <a:prstGeom prst="round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65960" y="3246120"/>
            <a:ext cx="960120" cy="365760"/>
          </a:xfrm>
          <a:prstGeom prst="round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048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Why farmers care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840480" y="19659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Phones break. Phones get sold. Phones get reset.</a:t>
            </a:r>
            <a:endParaRPr sz="14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Two seasons of records vanish in one moment without backup.</a:t>
            </a:r>
            <a:endParaRPr sz="14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840480" y="3246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What it does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40480" y="3657600"/>
            <a:ext cx="77724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Light / dark theme — usable in bright sun and at night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Data stats — see counts at a glance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CSV export — share with cooperatives, MFIs, tax officers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Full JSON backup — one tap, save to Files / share / cloud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Restore — load a backup file, replace current data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Clear all — fresh start, with a confirmation guard</a:t>
            </a:r>
            <a:endParaRPr sz="12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840480" y="5486400"/>
            <a:ext cx="7772400" cy="73152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23360" y="5532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F4D2E"/>
                </a:solidFill>
                <a:latin typeface="Calibri"/>
              </a:rPr>
              <a:t>Backup &amp; Restore Flow</a:t>
            </a:r>
            <a:endParaRPr sz="10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023360" y="577900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Settings  →  Backup all (JSON)  →  Save file  →  (later) Restore from file  →  Confirm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8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pic>
        <p:nvPicPr>
          <p:cNvPr id="56" name="Picture 5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920" y="1363980"/>
            <a:ext cx="2308860" cy="4895215"/>
          </a:xfrm>
          <a:prstGeom prst="roundRect">
            <a:avLst/>
          </a:prstGeom>
        </p:spPr>
      </p:pic>
      <p:sp>
        <p:nvSpPr>
          <p:cNvPr id="86" name="TextBox 10"/>
          <p:cNvSpPr txBox="1"/>
          <p:nvPr/>
        </p:nvSpPr>
        <p:spPr>
          <a:xfrm>
            <a:off x="594360" y="6355080"/>
            <a:ext cx="27432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0B4B1"/>
                </a:solidFill>
                <a:latin typeface="Calibri"/>
              </a:rPr>
              <a:t>Presented by the SmartFarm team</a:t>
            </a:r>
            <a:endParaRPr sz="1000" b="0">
              <a:solidFill>
                <a:srgbClr val="B0B4B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WHY NOW &amp; WHY US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Four reasons SmartFarm is different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44068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64592" cy="2286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3736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E6E43"/>
                </a:solidFill>
                <a:latin typeface="Calibri"/>
              </a:rPr>
              <a:t>[OFF]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68880" y="1783080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Truly offline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468880" y="2331720"/>
            <a:ext cx="33375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Every feature works with airplane mode on.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Reference data is bundled. Storage is local.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Cloud-first competitors fail in rural Cambodia.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544068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164592" cy="2286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73736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E6E43"/>
                </a:solidFill>
                <a:latin typeface="Calibri"/>
              </a:rPr>
              <a:t>[KH]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92440" y="1783080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Khmer-first by design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092440" y="2331720"/>
            <a:ext cx="33375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Every label, every category, every pest name —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in Khmer. Not a translation layer.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3977640"/>
            <a:ext cx="544068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977640"/>
            <a:ext cx="164592" cy="2286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6052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E6E43"/>
                </a:solidFill>
                <a:latin typeface="Calibri"/>
              </a:rPr>
              <a:t>[$$]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468880" y="4206240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Dual currency native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468880" y="4754880"/>
            <a:ext cx="33375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KHR and USD both first-class.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Reflects how Cambodian commerce actually works.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63640" y="3977640"/>
            <a:ext cx="544068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977640"/>
            <a:ext cx="164592" cy="2286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16052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E6E43"/>
                </a:solidFill>
                <a:latin typeface="Calibri"/>
              </a:rPr>
              <a:t>[--]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092440" y="4206240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No account, no friction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092440" y="4754880"/>
            <a:ext cx="33375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Open the app. Use it.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No login, no email, no data leaves the phone.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9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86" name="TextBox 10"/>
          <p:cNvSpPr txBox="1"/>
          <p:nvPr/>
        </p:nvSpPr>
        <p:spPr>
          <a:xfrm>
            <a:off x="594360" y="6355080"/>
            <a:ext cx="27432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0B4B1"/>
                </a:solidFill>
                <a:latin typeface="Calibri"/>
              </a:rPr>
              <a:t>Presented by the SmartFarm team</a:t>
            </a:r>
            <a:endParaRPr sz="1000" b="0">
              <a:solidFill>
                <a:srgbClr val="B0B4B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STATUS &amp; TECH STACK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Working demo today, native iOS tomorrow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3611880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3611880" cy="50292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64208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Today</a:t>
            </a:r>
            <a:endParaRPr sz="14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1546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Working React + Vite demo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Khmer UI, KHR/USD, theme toggle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All four modules functional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CSV export + JSON backup live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389120" y="1554480"/>
            <a:ext cx="3611880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554480"/>
            <a:ext cx="3611880" cy="502920"/>
          </a:xfrm>
          <a:prstGeom prst="rect">
            <a:avLst/>
          </a:prstGeom>
          <a:solidFill>
            <a:srgbClr val="8B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64208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Next 3 months</a:t>
            </a:r>
            <a:endParaRPr sz="14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2331720"/>
            <a:ext cx="31546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Native iOS port (Swift / SwiftUI)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iOS 13+ deployment target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CoreData persistence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Local notifications for activities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11880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11880" cy="50292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664208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6–12 months</a:t>
            </a:r>
            <a:endParaRPr sz="14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0" y="2331720"/>
            <a:ext cx="31546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Photo-based pest detail (30–50 entries)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Voice notes for low-literacy users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TestFlight pilot with real farmers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Optional iCloud Drive backup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40080" y="5943600"/>
            <a:ext cx="10881360" cy="457200"/>
          </a:xfrm>
          <a:prstGeom prst="round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A423D"/>
                </a:solidFill>
                <a:latin typeface="Calibri"/>
              </a:rPr>
              <a:t>Stack:  React 18  ·  Vite  ·  localStorage   →   SwiftUI  ·  CoreData  ·  iOS 13+</a:t>
            </a:r>
            <a:endParaRPr sz="1100" b="1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Calibri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10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THE OPPORTUNITY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A real audience, a real product, a clear path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6118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F4D2E"/>
                </a:solidFill>
                <a:latin typeface="Calibri"/>
              </a:rPr>
              <a:t>Cambodia</a:t>
            </a:r>
            <a:endParaRPr sz="2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5A2B"/>
                </a:solidFill>
                <a:latin typeface="Calibri"/>
              </a:rPr>
              <a:t>agriculture-led economy</a:t>
            </a:r>
            <a:endParaRPr sz="12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31546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Small farmers form the backbone of rural livelihoods.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Few have any digital tool today.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6118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F4D2E"/>
                </a:solidFill>
                <a:latin typeface="Calibri"/>
              </a:rPr>
              <a:t>Smartphones</a:t>
            </a:r>
            <a:endParaRPr sz="2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5A2B"/>
                </a:solidFill>
                <a:latin typeface="Calibri"/>
              </a:rPr>
              <a:t>wide &amp; growing reach</a:t>
            </a:r>
            <a:endParaRPr sz="12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2743200"/>
            <a:ext cx="31546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Entry-level Android and older iPhones are common,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even in rural districts.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6118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82880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F4D2E"/>
                </a:solidFill>
                <a:latin typeface="Calibri"/>
              </a:rPr>
              <a:t>Connectivity</a:t>
            </a:r>
            <a:endParaRPr sz="2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412480" y="2331720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5A2B"/>
                </a:solidFill>
                <a:latin typeface="Calibri"/>
              </a:rPr>
              <a:t>still the blocker</a:t>
            </a:r>
            <a:endParaRPr sz="12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0" y="2743200"/>
            <a:ext cx="31546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Network coverage is uneven; data is costly.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Offline-first is the unlock.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40080" y="4206240"/>
            <a:ext cx="10881360" cy="182880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89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F4D2E"/>
                </a:solidFill>
                <a:latin typeface="Calibri"/>
              </a:rPr>
              <a:t>What we have right now</a:t>
            </a:r>
            <a:endParaRPr sz="1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8680" y="475488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A working app, not a deck — every feature on the previous slides is built and runs offline today.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Khmer UX validated against the real domain (categories, activity types, common pests).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A423D"/>
                </a:solidFill>
                <a:latin typeface="Calibri"/>
              </a:rPr>
              <a:t>•  A clear, conservative roadmap to a native iOS app supporting devices farmers actually own.</a:t>
            </a:r>
            <a:endParaRPr sz="12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11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86" name="TextBox 10"/>
          <p:cNvSpPr txBox="1"/>
          <p:nvPr/>
        </p:nvSpPr>
        <p:spPr>
          <a:xfrm>
            <a:off x="594360" y="6355080"/>
            <a:ext cx="27432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0B4B1"/>
                </a:solidFill>
                <a:latin typeface="Calibri"/>
              </a:rPr>
              <a:t>Presented by the SmartFarm team</a:t>
            </a:r>
            <a:endParaRPr sz="1000" b="0">
              <a:solidFill>
                <a:srgbClr val="B0B4B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COMPETITIVE LANDSCAPE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Why farmers will pick SmartFarm over what they have today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3A423D"/>
                </a:solidFill>
                <a:latin typeface="Calibri"/>
              </a:rPr>
              <a:t>Feature</a:t>
            </a:r>
            <a:endParaRPr sz="1100" b="1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297680" y="159105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6B6E6A"/>
                </a:solidFill>
                <a:latin typeface="Calibri"/>
              </a:rPr>
              <a:t>Paper notebook</a:t>
            </a:r>
            <a:endParaRPr sz="1100" b="1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97680" y="1773936"/>
            <a:ext cx="2331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B0B4B1"/>
                </a:solidFill>
                <a:latin typeface="Calibri"/>
              </a:rPr>
              <a:t>(today)</a:t>
            </a:r>
            <a:endParaRPr sz="800" b="0">
              <a:solidFill>
                <a:srgbClr val="B0B4B1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29400" y="159105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8B5A2B"/>
                </a:solidFill>
                <a:latin typeface="Calibri"/>
              </a:rPr>
              <a:t>Cloud farming app</a:t>
            </a:r>
            <a:endParaRPr sz="11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29400" y="1773936"/>
            <a:ext cx="2331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B0B4B1"/>
                </a:solidFill>
                <a:latin typeface="Calibri"/>
              </a:rPr>
              <a:t>e.g. Plantix</a:t>
            </a:r>
            <a:endParaRPr sz="800" b="0">
              <a:solidFill>
                <a:srgbClr val="B0B4B1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961120" y="1554480"/>
            <a:ext cx="2331720" cy="41148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59105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1F4D2E"/>
                </a:solidFill>
                <a:latin typeface="Calibri"/>
              </a:rPr>
              <a:t>SmartFarm</a:t>
            </a:r>
            <a:endParaRPr sz="11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961120" y="1773936"/>
            <a:ext cx="2331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B0B4B1"/>
                </a:solidFill>
                <a:latin typeface="Calibri"/>
              </a:rPr>
              <a:t>(us)</a:t>
            </a:r>
            <a:endParaRPr sz="800" b="0">
              <a:solidFill>
                <a:srgbClr val="B0B4B1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40080" y="2011680"/>
            <a:ext cx="10652760" cy="411480"/>
          </a:xfrm>
          <a:prstGeom prst="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0116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Works fully offline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297680" y="20116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629400" y="20116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961120" y="20116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77240" y="242316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Khmer-first interface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29768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62940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96112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40080" y="2834640"/>
            <a:ext cx="10652760" cy="411480"/>
          </a:xfrm>
          <a:prstGeom prst="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83464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Searchable records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297680" y="28346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629400" y="28346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61120" y="28346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77240" y="324612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Built-in pest &amp; disease library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297680" y="32461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629400" y="32461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961120" y="32461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640080" y="3657600"/>
            <a:ext cx="10652760" cy="411480"/>
          </a:xfrm>
          <a:prstGeom prst="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65760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Activity reminders &amp; calendar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297680" y="365760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629400" y="365760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961120" y="365760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77240" y="40690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Backup &amp; restore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297680" y="4069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629400" y="4069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640080" y="4480560"/>
            <a:ext cx="10652760" cy="411480"/>
          </a:xfrm>
          <a:prstGeom prst="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448056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Free, no account required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97680" y="44805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629400" y="44805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961120" y="44805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77240" y="489204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Designed for Cambodian farmers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297680" y="48920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8B5A2B"/>
                </a:solidFill>
                <a:latin typeface="Calibri"/>
              </a:rPr>
              <a:t>~</a:t>
            </a:r>
            <a:endParaRPr sz="18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629400" y="48920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961120" y="48920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40080" y="5943600"/>
            <a:ext cx="10881360" cy="502920"/>
          </a:xfrm>
          <a:prstGeom prst="round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SmartFarm is the only option that wins on every axis rural Cambodian farmers actually care about.</a:t>
            </a:r>
            <a:endParaRPr sz="12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12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86" name="TextBox 10"/>
          <p:cNvSpPr txBox="1"/>
          <p:nvPr/>
        </p:nvSpPr>
        <p:spPr>
          <a:xfrm>
            <a:off x="594360" y="6567170"/>
            <a:ext cx="27432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0B4B1"/>
                </a:solidFill>
                <a:latin typeface="Calibri"/>
              </a:rPr>
              <a:t>Presented by the SmartFarm team</a:t>
            </a:r>
            <a:endParaRPr sz="1000" b="0">
              <a:solidFill>
                <a:srgbClr val="B0B4B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Thank you</a:t>
            </a:r>
            <a:endParaRPr sz="64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សូមអរគុណ</a:t>
            </a:r>
            <a:endParaRPr sz="28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0" y="3840480"/>
            <a:ext cx="210312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Questions, partnerships, pilots — let's talk.</a:t>
            </a:r>
            <a:endParaRPr sz="18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SmartFarm — កសិកម្មឆ្លាតវៃ ងាយស្រួល</a:t>
            </a:r>
            <a:endParaRPr sz="1200" b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6675</Words>
  <Application>WPS Docs</Application>
  <PresentationFormat>On-screen Show (4:3)</PresentationFormat>
  <Paragraphs>428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49" baseType="lpstr">
      <vt:lpstr>Arial</vt:lpstr>
      <vt:lpstr>SimSun</vt:lpstr>
      <vt:lpstr>Wingdings</vt:lpstr>
      <vt:lpstr>Arial</vt:lpstr>
      <vt:lpstr>Calibri</vt:lpstr>
      <vt:lpstr>Helvetica Neue</vt:lpstr>
      <vt:lpstr>Consolas</vt:lpstr>
      <vt:lpstr>Apple Color Emoji</vt:lpstr>
      <vt:lpstr>Battambang</vt:lpstr>
      <vt:lpstr>Microsoft YaHei</vt:lpstr>
      <vt:lpstr>汉仪旗黑</vt:lpstr>
      <vt:lpstr>Arial Unicode MS</vt:lpstr>
      <vt:lpstr>宋体-简</vt:lpstr>
      <vt:lpstr>SimSun</vt:lpstr>
      <vt:lpstr>Thonburi</vt:lpstr>
      <vt:lpstr>Kefa III</vt:lpstr>
      <vt:lpstr>Kohinoor Devanagari Regular</vt:lpstr>
      <vt:lpstr>Kohinoor Bangla Regular</vt:lpstr>
      <vt:lpstr>Calibri</vt:lpstr>
      <vt:lpstr>Zapf Dingbats</vt:lpstr>
      <vt:lpstr>YuKyokasho Yoko Medium</vt:lpstr>
      <vt:lpstr>Yuanti SC Regular</vt:lpstr>
      <vt:lpstr>STHeiti Light</vt:lpstr>
      <vt:lpstr>PT Serif Caption Regular</vt:lpstr>
      <vt:lpstr>SF Pro Regular</vt:lpstr>
      <vt:lpstr>SF Compact Text Regular</vt:lpstr>
      <vt:lpstr>Nanum Brush Script</vt:lpstr>
      <vt:lpstr>Nadeem</vt:lpstr>
      <vt:lpstr>Muna Regular</vt:lpstr>
      <vt:lpstr>Mukta Mahee Regular</vt:lpstr>
      <vt:lpstr>Marker Felt Thin</vt:lpstr>
      <vt:lpstr>Malayalam MN Regular</vt:lpstr>
      <vt:lpstr>Helvetica Neue Regular</vt:lpstr>
      <vt:lpstr>Khmer MN Regular</vt:lpstr>
      <vt:lpstr>Al Nile Regular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nem path</cp:lastModifiedBy>
  <cp:revision>40</cp:revision>
  <dcterms:created xsi:type="dcterms:W3CDTF">2026-04-25T09:52:01Z</dcterms:created>
  <dcterms:modified xsi:type="dcterms:W3CDTF">2026-04-25T09:52:01Z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57AD99AE8CE3D350F688EC6971CA3349_42</vt:lpwstr>
  </property>
  <property fmtid="{D5CDD505-2E9C-101B-9397-08002B2CF9AE}" pid="3" name="KSOProductBuildVer">
    <vt:lpwstr>1033-12.1.25867.25867</vt:lpwstr>
  </property>
</Properties>
</file>